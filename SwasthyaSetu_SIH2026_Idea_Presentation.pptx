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2600" b="1">
                <a:solidFill>
                  <a:srgbClr val="0D9488"/>
                </a:solidFill>
                <a:latin typeface="Arial"/>
              </a:defRPr>
            </a:pPr>
            <a:r>
              <a:t>SWASTHYASETU (स्वास्थ्यसेतु)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Rural Healthcare Referral &amp; Care Continuity Platform</a:t>
            </a:r>
          </a:p>
          <a:p>
            <a:pPr>
              <a:spcBef>
                <a:spcPts val="400"/>
              </a:spcBef>
              <a:defRPr sz="1050" i="1">
                <a:solidFill>
                  <a:srgbClr val="64748B"/>
                </a:solidFill>
                <a:latin typeface="Arial"/>
              </a:defRPr>
            </a:pPr>
            <a:r>
              <a:t>"Don't just send the patient. Make sure the care is ready — and stay with the journey until care is complete."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Problem Statement ID:</a:t>
            </a:r>
            <a:r>
              <a:rPr sz="1050" b="0">
                <a:solidFill>
                  <a:srgbClr val="1E293B"/>
                </a:solidFill>
                <a:latin typeface="Arial"/>
              </a:rPr>
              <a:t> SIH26133</a:t>
            </a:r>
            <a:endParaRPr lang="en-US" dirty="0"/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Problem Statement Title:</a:t>
            </a:r>
            <a:r>
              <a:rPr sz="1050" b="0">
                <a:solidFill>
                  <a:srgbClr val="1E293B"/>
                </a:solidFill>
                <a:latin typeface="Arial"/>
              </a:rPr>
              <a:t> Accessibility and quality of public healthcare services, particularly in rural and underserved areas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Nodal Authority:</a:t>
            </a:r>
            <a:r>
              <a:rPr sz="1050" b="0">
                <a:solidFill>
                  <a:srgbClr val="1E293B"/>
                </a:solidFill>
                <a:latin typeface="Arial"/>
              </a:rPr>
              <a:t> Government of Maharashtra (Maharashtra State Innovation Society; Department of Skills, Employment, Entrepreneurship and Innovation)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Theme:</a:t>
            </a:r>
            <a:r>
              <a:rPr sz="1050" b="0">
                <a:solidFill>
                  <a:srgbClr val="1E293B"/>
                </a:solidFill>
                <a:latin typeface="Arial"/>
              </a:rPr>
              <a:t> MedTech / BioTech / HealthTech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PS Category:</a:t>
            </a:r>
            <a:r>
              <a:rPr sz="1050" b="0">
                <a:solidFill>
                  <a:srgbClr val="1E293B"/>
                </a:solidFill>
                <a:latin typeface="Arial"/>
              </a:rPr>
              <a:t> Software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Team ID:</a:t>
            </a:r>
            <a:r>
              <a:rPr sz="1050" b="0">
                <a:solidFill>
                  <a:srgbClr val="1E293B"/>
                </a:solidFill>
                <a:latin typeface="Arial"/>
              </a:rPr>
              <a:t> SIH2026-TEAM-2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Team Name:</a:t>
            </a:r>
            <a:r>
              <a:rPr sz="1050" b="0">
                <a:solidFill>
                  <a:srgbClr val="1E293B"/>
                </a:solidFill>
                <a:latin typeface="Arial"/>
              </a:rPr>
              <a:t> SwasthyaSetu (Team 2)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swasthya_setu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6032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114300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IDEA TITLE: SwasthyaSetu (ग्रामीण स्वास्थ्य रेफरल और देखभाल निरंतरता मंच)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2600"/>
              </a:spcBef>
              <a:defRPr sz="7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wasthya_setu_emblem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01752"/>
            <a:ext cx="621792" cy="310896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Proposed Solution (Describe your Idea/Solution/Prototype) — Detailed Explanation | Problem Resolution | Uniqueness &amp; Innovation</a:t>
            </a:r>
          </a:p>
        </p:txBody>
      </p:sp>
      <p:pic>
        <p:nvPicPr>
          <p:cNvPr id="15365" name="Picture 15364" descr="referral_workflow_infographi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1444752"/>
            <a:ext cx="6035040" cy="3392424"/>
          </a:xfrm>
          <a:prstGeom prst="rect">
            <a:avLst/>
          </a:prstGeom>
        </p:spPr>
      </p:pic>
      <p:sp>
        <p:nvSpPr>
          <p:cNvPr id="15366" name="Rounded Rectangle 15365"/>
          <p:cNvSpPr/>
          <p:nvPr/>
        </p:nvSpPr>
        <p:spPr>
          <a:xfrm>
            <a:off x="612648" y="4919472"/>
            <a:ext cx="6035040" cy="129844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KEY NOVELTY: The ONLY Closed-Loop Public Health Referral Platform</a:t>
            </a:r>
          </a:p>
          <a:p>
            <a:pPr>
              <a:spcBef>
                <a:spcPts val="200"/>
              </a:spcBef>
              <a:defRPr sz="780">
                <a:solidFill>
                  <a:srgbClr val="E2E8F0"/>
                </a:solidFill>
                <a:latin typeface="Arial"/>
              </a:defRPr>
            </a:pPr>
            <a:r>
              <a:t>• Bidirectional Care Visibility: Village Sub-Centre (AAM) ➔ PHC ➔ CHC ➔ District Hospital ➔ ASHA Counter-Referral.</a:t>
            </a:r>
          </a:p>
          <a:p>
            <a:pPr>
              <a:spcBef>
                <a:spcPts val="200"/>
              </a:spcBef>
              <a:defRPr sz="780">
                <a:solidFill>
                  <a:srgbClr val="E2E8F0"/>
                </a:solidFill>
                <a:latin typeface="Arial"/>
              </a:defRPr>
            </a:pPr>
            <a:r>
              <a:t>• National Digital Health Rails: Native ABDM UHI (FHIR R4), ABHA creation, and auto-triage for MJPJAY cashless coverage.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812280" y="1444752"/>
            <a:ext cx="4773168" cy="10515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880" b="1">
                <a:solidFill>
                  <a:srgbClr val="E11D48"/>
                </a:solidFill>
                <a:latin typeface="Arial"/>
              </a:defRPr>
            </a:pPr>
            <a:r>
              <a:t>THE PROBLEM: The Rural 'Clinical Black Hole'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150,000+ blind paper referrals weekly across India's 31,000 PHCs without confirmation.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48.2% drop-out: Patients travel 40-80 km only to find specialists absent or beds full.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Zero Counter-Referral: Discharges never reach village ASHAs, causing fatal relapses.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812280" y="2560320"/>
            <a:ext cx="4773168" cy="102412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880" b="1">
                <a:solidFill>
                  <a:srgbClr val="0D9488"/>
                </a:solidFill>
                <a:latin typeface="Arial"/>
              </a:defRPr>
            </a:pPr>
            <a:r>
              <a:t>THE SOLUTION: AI-Powered Closed-Loop Care Orchestration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End-to-End Orchestration: Real-time patient tracking from village clinic to tertiary discharge.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Care Readiness Verification: 6-factor check ensures specialist, ICU bed, &amp; diagnostics ready.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Zero-Data-Loss: Multilingual Marathi voice intake + offline-first encrypted sync.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6812280" y="3648456"/>
            <a:ext cx="4773168" cy="256946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880" b="1">
                <a:solidFill>
                  <a:srgbClr val="0F172A"/>
                </a:solidFill>
                <a:latin typeface="Arial"/>
              </a:defRPr>
            </a:pPr>
            <a:r>
              <a:t>4 ARCHITECTURAL PILLARS (Frontline to Tertiary)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1 (Voice-First):</a:t>
            </a:r>
            <a:r>
              <a:rPr sz="710">
                <a:solidFill>
                  <a:srgbClr val="1E293B"/>
                </a:solidFill>
                <a:latin typeface="Arial"/>
              </a:rPr>
              <a:t> Bhashini Marathi/Hindi speech-to-text; 50s intake on 2GB RAM phones.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2 (Offline-First):</a:t>
            </a:r>
            <a:r>
              <a:rPr sz="710">
                <a:solidFill>
                  <a:srgbClr val="1E293B"/>
                </a:solidFill>
                <a:latin typeface="Arial"/>
              </a:rPr>
              <a:t> SQLite/WatermelonDB CRDTs store 5,000+ records in monsoon blindspots.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3 (One-Trip Care):</a:t>
            </a:r>
            <a:r>
              <a:rPr sz="710">
                <a:solidFill>
                  <a:srgbClr val="1E293B"/>
                </a:solidFill>
                <a:latin typeface="Arial"/>
              </a:rPr>
              <a:t> Bundles specialist OPD, ECG/CBC labs &amp; transit into a single visit.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4 (Readiness WOW):</a:t>
            </a:r>
            <a:r>
              <a:rPr sz="710">
                <a:solidFill>
                  <a:srgbClr val="1E293B"/>
                </a:solidFill>
                <a:latin typeface="Arial"/>
              </a:rPr>
              <a:t> Algorithmic pre-departure verification of doctor presence &amp; ICU beds (&lt;85%).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TECHNICAL APPROACH &amp; IMPLEMENTATION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2600"/>
              </a:spcBef>
              <a:defRPr sz="7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wasthya_setu_emblem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01752"/>
            <a:ext cx="621792" cy="310896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Technologies Used (Languages, Frameworks, Architecture) &amp; Methodology Process (Flowcharts / Working Prototype Pipeline)</a:t>
            </a:r>
          </a:p>
        </p:txBody>
      </p:sp>
      <p:pic>
        <p:nvPicPr>
          <p:cNvPr id="17413" name="Picture 17412" descr="platform_architecture_infographi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1444752"/>
            <a:ext cx="5943600" cy="3346704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612648" y="4864608"/>
            <a:ext cx="5943600" cy="135331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880" b="1">
                <a:solidFill>
                  <a:srgbClr val="0D9488"/>
                </a:solidFill>
                <a:latin typeface="Arial"/>
              </a:defRPr>
            </a:pPr>
            <a:r>
              <a:t>6-STAGE CARE ORCHESTRATION PIPELINE (WORKING PROTOTYPE)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01. Intake (Voice): ASHA speaks Marathi; Bhashini STT + OCR slip ingests vitals offline.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02. CDSS &amp; Bundle: ICMR/WHO CDSS flags triage severity (Red/Amber) &amp; bundles care.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03. Readiness Check: Algorithmic 6-factor check (Doctor, Beds, Diagnostics) at destination.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04. Dynamic Routing: Spatial PostGIS Haversine matrix routes patient; sends DLT SMS token.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05. Fast-Track OPD: Hospital pre-notified; patient scans QR token, bypassing 3.5h queues.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06. Counter-Referral: Tertiary discharge auto-creates home follow-up task on village ASHA app.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/>
        </p:nvGraphicFramePr>
        <p:xfrm>
          <a:off x="6693408" y="1444752"/>
          <a:ext cx="4892039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874519"/>
                <a:gridCol w="1783080"/>
              </a:tblGrid>
              <a:tr h="681881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Production Tech Stack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Engineering Rationale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Mobile &amp; Web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Vite + React 18 PWA / React Native Android Go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Ultra-lightweight (&lt;15 MB APK), offline-ready, runs on 2GB RAM phones.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API 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NestJS (Node.js 20+) Modular Microservices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High-throughput async REST/GraphQL, JWT + Argon2 security, DLT SMS.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Persistence &amp; GIS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PostgreSQL 16 + PostGIS + Prisma ORM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ACID transactions, spatial hospital distance queries, drive-time radius.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Offline &amp;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SQLite / WatermelonDB CRDTs + Redis BullMQ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Guaranteed local storage during network drops; background sync workers.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AI &amp; Speech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Gemini 2.5 Flash + Bhashini Indic STT + OCR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Sub-second symptom extraction, vernacular Marathi voice dictation.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18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Protocols &amp;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ABDM Gateway (ABHA, HFR), FHIR R4, DPDP 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National Health Authority compliant, encrypted health bundles, patient consent.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FEASIBILITY, RISK MANAGEMENT &amp; FINANCIAL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2600"/>
              </a:spcBef>
              <a:defRPr sz="7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wasthya_setu_emblem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01752"/>
            <a:ext cx="621792" cy="310896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Analysis of Idea Feasibility, Potential Challenges &amp; Risks, and Strategic Mitigation Measures</a:t>
            </a:r>
          </a:p>
        </p:txBody>
      </p:sp>
      <p:pic>
        <p:nvPicPr>
          <p:cNvPr id="17413" name="Picture 17412" descr="feasibility_pillars_infographi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1444752"/>
            <a:ext cx="5486400" cy="3090672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612648" y="4617720"/>
            <a:ext cx="5486400" cy="160020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880" b="1">
                <a:solidFill>
                  <a:srgbClr val="0D9488"/>
                </a:solidFill>
                <a:latin typeface="Arial"/>
              </a:defRPr>
            </a:pPr>
            <a:r>
              <a:t>SUSTAINABLE B2G FINANCIAL MODEL &amp; OPERATIONAL VIABILITY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Operational Feasibility: Replaces 8 duplicate paper registers; works on existing smartphones.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Sustainable Funding: Funded via State NHM PIP Innovation budget + ABDM DHIS incentives (₹500/bed/mo).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District Unit Economics: ~₹18 Lakh/year district operating cost vs ~₹35 Lakh/year state contract.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48.5% operating margin directly funds village frontline worker training and field engineering support.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/>
        </p:nvGraphicFramePr>
        <p:xfrm>
          <a:off x="6236208" y="1444752"/>
          <a:ext cx="5349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01168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Risk 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Identified Challenge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Strategic Mitigation Plan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Technical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Cellular blackout &gt;7 days in deep tribal monsoon areas.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Local SQLite retains 5,000 records encrypted; offline QR token + peer-to-peer sync at weekly PHC meet.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Operational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Hospital specialist ignores incoming referral queue.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Auto-escalation alert to Civil Surgeon dashboard after 4 hours + SMS reminder + physical priority token.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Clinical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Triage rule misclassifies acute case as low risk.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Deterministic ICMR/WHO CDSS thresholds; mandatory human-in-the-loop doctor authorization; no autonomous diagnosis.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Adoption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Low smartphone literacy among senior village ASHAs.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Marathi voice dictation + visual iconographic UI + ₹50 performance incentive per verified referral follow-up.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MEASURABLE IMPACT, HEALTHCARE OUTCOMES &amp; MULTI-TIER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2600"/>
              </a:spcBef>
              <a:defRPr sz="7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wasthya_setu_emblem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01752"/>
            <a:ext cx="621792" cy="310896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Potential Impact on Target Audience &amp; Comprehensive Benefits (Social, Economic, Environmental, Administrative)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2648" y="1444752"/>
            <a:ext cx="2606040" cy="10515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0D9488"/>
                </a:solidFill>
                <a:latin typeface="Arial"/>
              </a:defRPr>
            </a:pPr>
            <a:r>
              <a:t>&lt; 10%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Referral Drop-out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Slashed from 48.2% baseline via closed-loop tracking.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401568" y="1444752"/>
            <a:ext cx="2606040" cy="1051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2563EB"/>
                </a:solidFill>
                <a:latin typeface="Arial"/>
              </a:defRPr>
            </a:pPr>
            <a:r>
              <a:t>60%+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OOPE Travel Cut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Saves families from debt traps via Coordinated One-Trip.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90488" y="1444752"/>
            <a:ext cx="260604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&lt; 45 Min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Hospital Wait Time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Fast-track casualty triage bypasses 3.5h general queues.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979408" y="1444752"/>
            <a:ext cx="2606040" cy="10515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10B981"/>
                </a:solidFill>
                <a:latin typeface="Arial"/>
              </a:defRPr>
            </a:pPr>
            <a:r>
              <a:t>100%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Follow-up Compliance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Automated counter-referral tasks sent to village ASHAs.</a:t>
            </a:r>
          </a:p>
        </p:txBody>
      </p:sp>
      <p:pic>
        <p:nvPicPr>
          <p:cNvPr id="17417" name="Picture 17416" descr="impact_pillars_infographi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2633472"/>
            <a:ext cx="5852160" cy="3291840"/>
          </a:xfrm>
          <a:prstGeom prst="rect">
            <a:avLst/>
          </a:prstGeom>
        </p:spPr>
      </p:pic>
      <p:sp>
        <p:nvSpPr>
          <p:cNvPr id="17418" name="Rounded Rectangle 17417"/>
          <p:cNvSpPr/>
          <p:nvPr/>
        </p:nvSpPr>
        <p:spPr>
          <a:xfrm>
            <a:off x="6693408" y="2633472"/>
            <a:ext cx="4892040" cy="777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E11D48"/>
                </a:solidFill>
                <a:latin typeface="Arial"/>
              </a:defRPr>
            </a:pPr>
            <a:r>
              <a:t>SOCIAL IMPACT: Maternal &amp; Cardiac Lives Saved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Prevents maternal deaths (PPH, eclampsia) &amp; cardiac crises in tribal blocks (Melghat, Nandurbar); vernacular voice guides illiterate families; empowers ASHAs.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693408" y="3474720"/>
            <a:ext cx="489204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2563EB"/>
                </a:solidFill>
                <a:latin typeface="Arial"/>
              </a:defRPr>
            </a:pPr>
            <a:r>
              <a:t>ECONOMIC IMPACT: Eliminating Healthcare Debt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Cuts private transport and redundant diagnostic fees that push 55M into poverty yearly; unlocks ABDM DHIS hospital cash incentives (₹500/bed/mo).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693408" y="4315968"/>
            <a:ext cx="4892040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0B981"/>
                </a:solidFill>
                <a:latin typeface="Arial"/>
              </a:defRPr>
            </a:pPr>
            <a:r>
              <a:t>ENVIRONMENTAL IMPACT: Paperless Green Health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Replaces millions of paper registers with digital health records; slashes transit vehicular emissions from repeated, failed hospital trips.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693408" y="5157216"/>
            <a:ext cx="4892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F172A"/>
                </a:solidFill>
                <a:latin typeface="Arial"/>
              </a:defRPr>
            </a:pPr>
            <a:r>
              <a:t>ADMINISTRATIVE IMPACT: Real-Time Governance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Live District Health Officer (DHO) bottleneck heatmaps surface specialist shortages &amp; equipment outages; replaces delayed 45-day HMIS reports.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RESEARCH, REFERENCES &amp; COMPETITIVE BENCHMARKING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tIns="18288" bIns="18288"/>
          <a:lstStyle/>
          <a:p>
            <a:pPr algn="ctr">
              <a:spcBef>
                <a:spcPts val="2600"/>
              </a:spcBef>
              <a:defRPr sz="7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wasthya_setu_emblem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01752"/>
            <a:ext cx="621792" cy="310896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Details &amp; Links of Reference Research Work, Competitive Benchmarking Matrix, and Epidemiological Evidence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612648" y="1444752"/>
          <a:ext cx="109728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737360"/>
                <a:gridCol w="1737360"/>
                <a:gridCol w="1737360"/>
                <a:gridCol w="1737360"/>
                <a:gridCol w="1737360"/>
              </a:tblGrid>
              <a:tr h="29260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Capability 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eSanjeevani (C-DAC)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NIC e-Hospital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Khushi Baby / CHT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108 EMS Fleet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SwasthyaSetu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Closed-Loop Physical Referral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 (Tele-advice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 (Internal OPD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⚠ Partial (MCH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Transport only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Full Closed-Loop Tracking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Offline-First Mobile Architecture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Fails without 4G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Desktop Intranet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✓ Offline 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⚠ Voice Call 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Offline SQLite + CRDT Sync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Vernacular Voice Triage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Bhashini Marathi/Hindi STT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Pre-Arrival Casualty Alert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⚠ Manual Phone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Real-Time Triage Card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Automated ASHA Counter-Referral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Discharge to ASHA Task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pic>
        <p:nvPicPr>
          <p:cNvPr id="17414" name="Picture 17413" descr="research_evidence_infographi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749039"/>
            <a:ext cx="4114800" cy="2313432"/>
          </a:xfrm>
          <a:prstGeom prst="rect">
            <a:avLst/>
          </a:prstGeom>
        </p:spPr>
      </p:pic>
      <p:sp>
        <p:nvSpPr>
          <p:cNvPr id="17415" name="Rounded Rectangle 17414"/>
          <p:cNvSpPr/>
          <p:nvPr/>
        </p:nvSpPr>
        <p:spPr>
          <a:xfrm>
            <a:off x="4892040" y="3749039"/>
            <a:ext cx="3291840" cy="11155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2563EB"/>
                </a:solidFill>
                <a:latin typeface="Arial"/>
              </a:defRPr>
            </a:pPr>
            <a:r>
              <a:t>1. MoHFW Rural Health Statistics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Health Dynamics of India 2022-23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Acute 79.9% shortfall of specialists at rural CHCs.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Validates why capacity-aware routing is essential.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293608" y="3749039"/>
            <a:ext cx="3291840" cy="111556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E11D48"/>
                </a:solidFill>
                <a:latin typeface="Arial"/>
              </a:defRPr>
            </a:pPr>
            <a:r>
              <a:t>2. The Lancet Global Health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Referral Pathways in Rural India (2020)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48.2% of referred primary patients never reach hospital.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Direct empirical baseline for closed-loop tracking.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892040" y="4946903"/>
            <a:ext cx="3291840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0F172A"/>
                </a:solidFill>
                <a:latin typeface="Arial"/>
              </a:defRPr>
            </a:pPr>
            <a:r>
              <a:t>3. National Health Accounts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NHA 2020-21 / Lancet Public Health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OOPE is 47.1% of health spend; pushes 55M into debt.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Solved by Coordinated One-Trip Care Bundles.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293608" y="4946903"/>
            <a:ext cx="3291840" cy="111556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0D9488"/>
                </a:solidFill>
                <a:latin typeface="Arial"/>
              </a:defRPr>
            </a:pPr>
            <a:r>
              <a:t>4. JMIR 2025 &amp; ABDM Specs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Li et al., JMIR 2025; ABDM FHIR R4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Bidirectional referral cuts transfer delay to 0.90 days.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Blueprint for SwasthyaSetu ABHA integration.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