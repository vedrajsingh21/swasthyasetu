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defRPr sz="2600" b="1">
                <a:solidFill>
                  <a:srgbClr val="0D9488"/>
                </a:solidFill>
                <a:latin typeface="Arial"/>
              </a:defRPr>
            </a:pPr>
            <a:r>
              <a:t>SWASTHYASETU (स्वास्थ्यसेतु)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  <a:latin typeface="Arial"/>
              </a:defRPr>
            </a:pPr>
            <a:r>
              <a:t>Rural Healthcare Referral &amp; Care Continuity Platform</a:t>
            </a:r>
          </a:p>
          <a:p>
            <a:pPr>
              <a:spcBef>
                <a:spcPts val="400"/>
              </a:spcBef>
              <a:defRPr sz="1050" i="1">
                <a:solidFill>
                  <a:srgbClr val="64748B"/>
                </a:solidFill>
                <a:latin typeface="Arial"/>
              </a:defRPr>
            </a:pPr>
            <a:r>
              <a:t>"Don't just send the patient. Make sure the care is ready — and stay with the journey until care is complete."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0F172A"/>
                </a:solidFill>
                <a:latin typeface="Arial"/>
              </a:rPr>
              <a:t>• Problem Statement ID:</a:t>
            </a:r>
            <a:r>
              <a:rPr sz="1050" b="0">
                <a:solidFill>
                  <a:srgbClr val="1E293B"/>
                </a:solidFill>
                <a:latin typeface="Arial"/>
              </a:rPr>
              <a:t> SIH26133</a:t>
            </a:r>
            <a:endParaRPr lang="en-US" dirty="0"/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172A"/>
                </a:solidFill>
                <a:latin typeface="Arial"/>
              </a:rPr>
              <a:t>• Problem Statement Title:</a:t>
            </a:r>
            <a:r>
              <a:rPr sz="1050" b="0">
                <a:solidFill>
                  <a:srgbClr val="1E293B"/>
                </a:solidFill>
                <a:latin typeface="Arial"/>
              </a:rPr>
              <a:t> Accessibility and quality of public healthcare services, particularly in rural and underserved areas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172A"/>
                </a:solidFill>
                <a:latin typeface="Arial"/>
              </a:rPr>
              <a:t>• Nodal Authority:</a:t>
            </a:r>
            <a:r>
              <a:rPr sz="1050" b="0">
                <a:solidFill>
                  <a:srgbClr val="1E293B"/>
                </a:solidFill>
                <a:latin typeface="Arial"/>
              </a:rPr>
              <a:t> Government of Maharashtra (Maharashtra State Innovation Society; Department of Skills, Employment, Entrepreneurship and Innovation)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172A"/>
                </a:solidFill>
                <a:latin typeface="Arial"/>
              </a:rPr>
              <a:t>• Theme:</a:t>
            </a:r>
            <a:r>
              <a:rPr sz="1050" b="0">
                <a:solidFill>
                  <a:srgbClr val="1E293B"/>
                </a:solidFill>
                <a:latin typeface="Arial"/>
              </a:rPr>
              <a:t> MedTech / BioTech / HealthTech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172A"/>
                </a:solidFill>
                <a:latin typeface="Arial"/>
              </a:rPr>
              <a:t>• PS Category:</a:t>
            </a:r>
            <a:r>
              <a:rPr sz="1050" b="0">
                <a:solidFill>
                  <a:srgbClr val="1E293B"/>
                </a:solidFill>
                <a:latin typeface="Arial"/>
              </a:rPr>
              <a:t> Software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172A"/>
                </a:solidFill>
                <a:latin typeface="Arial"/>
              </a:rPr>
              <a:t>• Team ID:</a:t>
            </a:r>
            <a:r>
              <a:rPr sz="1050" b="0">
                <a:solidFill>
                  <a:srgbClr val="1E293B"/>
                </a:solidFill>
                <a:latin typeface="Arial"/>
              </a:rPr>
              <a:t> SIH2026-TEAM-2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172A"/>
                </a:solidFill>
                <a:latin typeface="Arial"/>
              </a:rPr>
              <a:t>• Team Name:</a:t>
            </a:r>
            <a:r>
              <a:rPr sz="1050" b="0">
                <a:solidFill>
                  <a:srgbClr val="1E293B"/>
                </a:solidFill>
                <a:latin typeface="Arial"/>
              </a:rPr>
              <a:t> SwasthyaSetu (Team 2)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965960" y="0"/>
            <a:ext cx="7680960" cy="1143000"/>
          </a:xfrm>
        </p:spPr>
        <p:txBody>
          <a:bodyPr/>
          <a:lstStyle/>
          <a:p>
            <a:pPr algn="ctr">
              <a:defRPr sz="1550" b="1">
                <a:solidFill>
                  <a:srgbClr val="0F172A"/>
                </a:solidFill>
                <a:latin typeface="Arial"/>
              </a:defRPr>
            </a:pPr>
            <a:r>
              <a:t>IDEA TITLE: SwasthyaSetu (ग्रामीण स्वास्थ्य रेफरल और देखभाल निरंतरता मंच)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01168" y="252246"/>
            <a:ext cx="169164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18288" rIns="18288"/>
          <a:lstStyle/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SwasthyaSetu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612648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Proposed Solution (Describe your Idea/Solution/Prototype) — Detailed Explanation | Problem Resolution | Uniqueness &amp; Innovation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612648" y="1417320"/>
            <a:ext cx="5349240" cy="1325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>
              <a:defRPr sz="1000" b="1">
                <a:solidFill>
                  <a:srgbClr val="E11D48"/>
                </a:solidFill>
                <a:latin typeface="Arial"/>
              </a:defRPr>
            </a:pPr>
            <a:r>
              <a:t>THE PROBLEM: The Rural Healthcare 'Clinical Black Hole'</a:t>
            </a:r>
          </a:p>
          <a:p>
            <a:pPr>
              <a:spcBef>
                <a:spcPts val="150"/>
              </a:spcBef>
              <a:defRPr sz="819">
                <a:solidFill>
                  <a:srgbClr val="1E293B"/>
                </a:solidFill>
                <a:latin typeface="Arial"/>
              </a:defRPr>
            </a:pPr>
            <a:r>
              <a:t>• 150,000+ blind paper referrals weekly across India's 31,000 PHCs without receiving notice.</a:t>
            </a:r>
          </a:p>
          <a:p>
            <a:pPr>
              <a:spcBef>
                <a:spcPts val="150"/>
              </a:spcBef>
              <a:defRPr sz="819">
                <a:solidFill>
                  <a:srgbClr val="1E293B"/>
                </a:solidFill>
                <a:latin typeface="Arial"/>
              </a:defRPr>
            </a:pPr>
            <a:r>
              <a:t>• 48.2% Referral Drop-out: Patients travel 40-80 km only to find specialists absent or beds full.</a:t>
            </a:r>
          </a:p>
          <a:p>
            <a:pPr>
              <a:spcBef>
                <a:spcPts val="150"/>
              </a:spcBef>
              <a:defRPr sz="819">
                <a:solidFill>
                  <a:srgbClr val="1E293B"/>
                </a:solidFill>
                <a:latin typeface="Arial"/>
              </a:defRPr>
            </a:pPr>
            <a:r>
              <a:t>• Zero Counter-Referral: Discharges never reach village ASHAs, causing fatal relapses &amp; OOPE debt.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6236208" y="1417320"/>
            <a:ext cx="5349240" cy="13258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/>
          <a:lstStyle/>
          <a:p>
            <a:pPr algn="ctr">
              <a:defRPr sz="1000" b="1">
                <a:solidFill>
                  <a:srgbClr val="0D9488"/>
                </a:solidFill>
                <a:latin typeface="Arial"/>
              </a:defRPr>
            </a:pPr>
            <a:r>
              <a:t>THE SOLUTION: AI-Powered Closed-Loop Care Orchestration</a:t>
            </a:r>
          </a:p>
          <a:p>
            <a:pPr>
              <a:spcBef>
                <a:spcPts val="150"/>
              </a:spcBef>
              <a:defRPr sz="819">
                <a:solidFill>
                  <a:srgbClr val="1E293B"/>
                </a:solidFill>
                <a:latin typeface="Arial"/>
              </a:defRPr>
            </a:pPr>
            <a:r>
              <a:t>• End-to-End Care Continuity: Connects Sub-Centre (AAM) -&gt; PHC -&gt; CHC -&gt; District Hospital.</a:t>
            </a:r>
          </a:p>
          <a:p>
            <a:pPr>
              <a:spcBef>
                <a:spcPts val="150"/>
              </a:spcBef>
              <a:defRPr sz="819">
                <a:solidFill>
                  <a:srgbClr val="1E293B"/>
                </a:solidFill>
                <a:latin typeface="Arial"/>
              </a:defRPr>
            </a:pPr>
            <a:r>
              <a:t>• Care Readiness Verification: Verifies 6-factor readiness before travel + auto-reroutes if blocked.</a:t>
            </a:r>
          </a:p>
          <a:p>
            <a:pPr>
              <a:spcBef>
                <a:spcPts val="150"/>
              </a:spcBef>
              <a:defRPr sz="819">
                <a:solidFill>
                  <a:srgbClr val="1E293B"/>
                </a:solidFill>
                <a:latin typeface="Arial"/>
              </a:defRPr>
            </a:pPr>
            <a:r>
              <a:t>• Zero-Typing &amp; Zero-Data-Loss: Multilingual voice intake in Marathi + offline-first sync queue.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612648" y="2852928"/>
            <a:ext cx="2606040" cy="31089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defRPr sz="950" b="1">
                <a:solidFill>
                  <a:srgbClr val="2563EB"/>
                </a:solidFill>
                <a:latin typeface="Arial"/>
              </a:defRPr>
            </a:pPr>
            <a:r>
              <a:t>Pillar 1: Voice-First Vernacular</a:t>
            </a:r>
          </a:p>
          <a:p>
            <a:pPr>
              <a:spcBef>
                <a:spcPts val="350"/>
              </a:spcBef>
            </a:pPr>
            <a:r>
              <a:rPr sz="800" b="1">
                <a:solidFill>
                  <a:srgbClr val="0F172A"/>
                </a:solidFill>
                <a:latin typeface="Arial"/>
              </a:rPr>
              <a:t>Tech:</a:t>
            </a:r>
            <a:r>
              <a:rPr sz="780" b="0">
                <a:solidFill>
                  <a:srgbClr val="1E293B"/>
                </a:solidFill>
                <a:latin typeface="Arial"/>
              </a:rPr>
              <a:t> Bhashini Indic STT / NMT</a:t>
            </a:r>
          </a:p>
          <a:p>
            <a:pPr>
              <a:spcBef>
                <a:spcPts val="350"/>
              </a:spcBef>
            </a:pPr>
            <a:r>
              <a:rPr sz="800" b="1">
                <a:solidFill>
                  <a:srgbClr val="0F172A"/>
                </a:solidFill>
                <a:latin typeface="Arial"/>
              </a:rPr>
              <a:t>Action:</a:t>
            </a:r>
            <a:r>
              <a:rPr sz="780" b="0">
                <a:solidFill>
                  <a:srgbClr val="1E293B"/>
                </a:solidFill>
                <a:latin typeface="Arial"/>
              </a:rPr>
              <a:t> Spoken Marathi/Hindi symptom dictation (e.g. 'छातीत दुखणे, धाप लागणे').</a:t>
            </a:r>
          </a:p>
          <a:p>
            <a:pPr>
              <a:spcBef>
                <a:spcPts val="350"/>
              </a:spcBef>
            </a:pPr>
            <a:r>
              <a:rPr sz="800" b="1">
                <a:solidFill>
                  <a:srgbClr val="0F172A"/>
                </a:solidFill>
                <a:latin typeface="Arial"/>
              </a:rPr>
              <a:t>Impact:</a:t>
            </a:r>
            <a:r>
              <a:rPr sz="780" b="0">
                <a:solidFill>
                  <a:srgbClr val="1E293B"/>
                </a:solidFill>
                <a:latin typeface="Arial"/>
              </a:rPr>
              <a:t> Eliminates complex English text entry; reduces ASHA logging from 8m to 50s on basic Android Go phones.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3401568" y="2852928"/>
            <a:ext cx="2606040" cy="310896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defRPr sz="950" b="1">
                <a:solidFill>
                  <a:srgbClr val="0D9488"/>
                </a:solidFill>
                <a:latin typeface="Arial"/>
              </a:defRPr>
            </a:pPr>
            <a:r>
              <a:t>Pillar 2: Patient Offline-First</a:t>
            </a:r>
          </a:p>
          <a:p>
            <a:pPr>
              <a:spcBef>
                <a:spcPts val="350"/>
              </a:spcBef>
            </a:pPr>
            <a:r>
              <a:rPr sz="800" b="1">
                <a:solidFill>
                  <a:srgbClr val="0F172A"/>
                </a:solidFill>
                <a:latin typeface="Arial"/>
              </a:rPr>
              <a:t>Tech:</a:t>
            </a:r>
            <a:r>
              <a:rPr sz="780" b="0">
                <a:solidFill>
                  <a:srgbClr val="1E293B"/>
                </a:solidFill>
                <a:latin typeface="Arial"/>
              </a:rPr>
              <a:t> SQLite / WatermelonDB CRDTs</a:t>
            </a:r>
          </a:p>
          <a:p>
            <a:pPr>
              <a:spcBef>
                <a:spcPts val="350"/>
              </a:spcBef>
            </a:pPr>
            <a:r>
              <a:rPr sz="800" b="1">
                <a:solidFill>
                  <a:srgbClr val="0F172A"/>
                </a:solidFill>
                <a:latin typeface="Arial"/>
              </a:rPr>
              <a:t>Action:</a:t>
            </a:r>
            <a:r>
              <a:rPr sz="780" b="0">
                <a:solidFill>
                  <a:srgbClr val="1E293B"/>
                </a:solidFill>
                <a:latin typeface="Arial"/>
              </a:rPr>
              <a:t> Local encrypted queue storing 5,000+ patient records on mobile device.</a:t>
            </a:r>
          </a:p>
          <a:p>
            <a:pPr>
              <a:spcBef>
                <a:spcPts val="350"/>
              </a:spcBef>
            </a:pPr>
            <a:r>
              <a:rPr sz="800" b="1">
                <a:solidFill>
                  <a:srgbClr val="0F172A"/>
                </a:solidFill>
                <a:latin typeface="Arial"/>
              </a:rPr>
              <a:t>Impact:</a:t>
            </a:r>
            <a:r>
              <a:rPr sz="780" b="0">
                <a:solidFill>
                  <a:srgbClr val="1E293B"/>
                </a:solidFill>
                <a:latin typeface="Arial"/>
              </a:rPr>
              <a:t> Guaranteed zero data loss in rural monsoon network dead zones; automatic background sync on reconnect.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6190488" y="2852928"/>
            <a:ext cx="2606040" cy="3108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Pillar 3: Coordinated One-Trip</a:t>
            </a:r>
          </a:p>
          <a:p>
            <a:pPr>
              <a:spcBef>
                <a:spcPts val="350"/>
              </a:spcBef>
            </a:pPr>
            <a:r>
              <a:rPr sz="800" b="1">
                <a:solidFill>
                  <a:srgbClr val="0F172A"/>
                </a:solidFill>
                <a:latin typeface="Arial"/>
              </a:rPr>
              <a:t>Tech:</a:t>
            </a:r>
            <a:r>
              <a:rPr sz="780" b="0">
                <a:solidFill>
                  <a:srgbClr val="1E293B"/>
                </a:solidFill>
                <a:latin typeface="Arial"/>
              </a:rPr>
              <a:t> Care Bundle Decision Model</a:t>
            </a:r>
          </a:p>
          <a:p>
            <a:pPr>
              <a:spcBef>
                <a:spcPts val="350"/>
              </a:spcBef>
            </a:pPr>
            <a:r>
              <a:rPr sz="800" b="1">
                <a:solidFill>
                  <a:srgbClr val="0F172A"/>
                </a:solidFill>
                <a:latin typeface="Arial"/>
              </a:rPr>
              <a:t>Action:</a:t>
            </a:r>
            <a:r>
              <a:rPr sz="780" b="0">
                <a:solidFill>
                  <a:srgbClr val="1E293B"/>
                </a:solidFill>
                <a:latin typeface="Arial"/>
              </a:rPr>
              <a:t> Bundles specialty consultation, on-site diagnostics (ECG, CBC), and documents.</a:t>
            </a:r>
          </a:p>
          <a:p>
            <a:pPr>
              <a:spcBef>
                <a:spcPts val="350"/>
              </a:spcBef>
            </a:pPr>
            <a:r>
              <a:rPr sz="800" b="1">
                <a:solidFill>
                  <a:srgbClr val="0F172A"/>
                </a:solidFill>
                <a:latin typeface="Arial"/>
              </a:rPr>
              <a:t>Impact:</a:t>
            </a:r>
            <a:r>
              <a:rPr sz="780" b="0">
                <a:solidFill>
                  <a:srgbClr val="1E293B"/>
                </a:solidFill>
                <a:latin typeface="Arial"/>
              </a:rPr>
              <a:t> Stops the 'ping-pong' referral cycle; cuts travel &amp; catastrophic out-of-pocket costs by &gt;60%.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8979408" y="2852928"/>
            <a:ext cx="2606040" cy="310896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defRPr sz="950" b="1">
                <a:solidFill>
                  <a:srgbClr val="E11D48"/>
                </a:solidFill>
                <a:latin typeface="Arial"/>
              </a:defRPr>
            </a:pPr>
            <a:r>
              <a:t>Pillar 4: Care Readiness (WOW)</a:t>
            </a:r>
          </a:p>
          <a:p>
            <a:pPr>
              <a:spcBef>
                <a:spcPts val="350"/>
              </a:spcBef>
            </a:pPr>
            <a:r>
              <a:rPr sz="800" b="1">
                <a:solidFill>
                  <a:srgbClr val="0F172A"/>
                </a:solidFill>
                <a:latin typeface="Arial"/>
              </a:rPr>
              <a:t>Tech:</a:t>
            </a:r>
            <a:r>
              <a:rPr sz="780" b="0">
                <a:solidFill>
                  <a:srgbClr val="1E293B"/>
                </a:solidFill>
                <a:latin typeface="Arial"/>
              </a:rPr>
              <a:t> 6-Factor Decision Engine</a:t>
            </a:r>
          </a:p>
          <a:p>
            <a:pPr>
              <a:spcBef>
                <a:spcPts val="350"/>
              </a:spcBef>
            </a:pPr>
            <a:r>
              <a:rPr sz="800" b="1">
                <a:solidFill>
                  <a:srgbClr val="0F172A"/>
                </a:solidFill>
                <a:latin typeface="Arial"/>
              </a:rPr>
              <a:t>Action:</a:t>
            </a:r>
            <a:r>
              <a:rPr sz="780" b="0">
                <a:solidFill>
                  <a:srgbClr val="1E293B"/>
                </a:solidFill>
                <a:latin typeface="Arial"/>
              </a:rPr>
              <a:t> Checks Doctor, Diagnostics, Equipment, ICU Beds (&lt;85%), and Docs before departure.</a:t>
            </a:r>
          </a:p>
          <a:p>
            <a:pPr>
              <a:spcBef>
                <a:spcPts val="350"/>
              </a:spcBef>
            </a:pPr>
            <a:r>
              <a:rPr sz="800" b="1">
                <a:solidFill>
                  <a:srgbClr val="0F172A"/>
                </a:solidFill>
                <a:latin typeface="Arial"/>
              </a:rPr>
              <a:t>Impact:</a:t>
            </a:r>
            <a:r>
              <a:rPr sz="780" b="0">
                <a:solidFill>
                  <a:srgbClr val="1E293B"/>
                </a:solidFill>
                <a:latin typeface="Arial"/>
              </a:rPr>
              <a:t> Stops door refusals; dynamic rerouting recovers referral if hospital becomes unavailable.</a:t>
            </a:r>
          </a:p>
        </p:txBody>
      </p:sp>
      <p:sp>
        <p:nvSpPr>
          <p:cNvPr id="15369" name="Rectangle 15368"/>
          <p:cNvSpPr/>
          <p:nvPr/>
        </p:nvSpPr>
        <p:spPr>
          <a:xfrm>
            <a:off x="612648" y="6035040"/>
            <a:ext cx="10972800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19" b="1">
                <a:solidFill>
                  <a:srgbClr val="FFFFFF"/>
                </a:solidFill>
                <a:latin typeface="Arial"/>
              </a:defRPr>
            </a:pPr>
            <a:r>
              <a:t>KEY NOVELTY: The ONLY system providing Closed-Loop Tracking (Village -&gt; Hospital -&gt; ASHA Counter-Referral) + ABDM UHI &amp; MJPJAY Integration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65960" y="0"/>
            <a:ext cx="7680960" cy="0"/>
          </a:xfrm>
        </p:spPr>
        <p:txBody>
          <a:bodyPr/>
          <a:lstStyle/>
          <a:p>
            <a:pPr algn="ctr">
              <a:defRPr sz="1550" b="1">
                <a:solidFill>
                  <a:srgbClr val="0F172A"/>
                </a:solidFill>
                <a:latin typeface="Arial"/>
              </a:defRPr>
            </a:pPr>
            <a:r>
              <a:t>TECHNICAL APPROACH &amp; IMPLEMENTATION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01168" y="252246"/>
            <a:ext cx="169164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18288" rIns="18288"/>
          <a:lstStyle/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SwasthyaSetu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12648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Technologies Used (Languages, Frameworks, Architecture) &amp; Methodology Process (Flowcharts / Working Prototype Pipeline)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2648" y="1444752"/>
            <a:ext cx="1691640" cy="118872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ctr">
              <a:defRPr sz="819" b="1">
                <a:solidFill>
                  <a:srgbClr val="2563EB"/>
                </a:solidFill>
                <a:latin typeface="Arial"/>
              </a:defRPr>
            </a:pPr>
            <a:r>
              <a:t>01. INTAKE &amp; TRIAGE</a:t>
            </a:r>
          </a:p>
          <a:p>
            <a:pPr algn="ctr">
              <a:spcBef>
                <a:spcPts val="200"/>
              </a:spcBef>
              <a:defRPr sz="740">
                <a:solidFill>
                  <a:srgbClr val="1E293B"/>
                </a:solidFill>
                <a:latin typeface="Arial"/>
              </a:defRPr>
            </a:pPr>
            <a:r>
              <a:t>ASHA speaks Marathi;</a:t>
            </a:r>
            <a:br/>
            <a:r>
              <a:t>Bhashini STT + OCR slip</a:t>
            </a:r>
            <a:br/>
            <a:r>
              <a:t>ingests vitals offline.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2322576" y="1810512"/>
            <a:ext cx="128016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2468880" y="1444752"/>
            <a:ext cx="1691640" cy="118872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ctr">
              <a:defRPr sz="819" b="1">
                <a:solidFill>
                  <a:srgbClr val="0D9488"/>
                </a:solidFill>
                <a:latin typeface="Arial"/>
              </a:defRPr>
            </a:pPr>
            <a:r>
              <a:t>02. CLINICAL CDSS</a:t>
            </a:r>
          </a:p>
          <a:p>
            <a:pPr algn="ctr">
              <a:spcBef>
                <a:spcPts val="200"/>
              </a:spcBef>
              <a:defRPr sz="740">
                <a:solidFill>
                  <a:srgbClr val="1E293B"/>
                </a:solidFill>
                <a:latin typeface="Arial"/>
              </a:defRPr>
            </a:pPr>
            <a:r>
              <a:t>ICMR/WHO rule engine</a:t>
            </a:r>
            <a:br/>
            <a:r>
              <a:t>flags Red/Amber triage;</a:t>
            </a:r>
            <a:br/>
            <a:r>
              <a:t>builds Care Bundle.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178808" y="1810512"/>
            <a:ext cx="128016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325112" y="1444752"/>
            <a:ext cx="1691640" cy="118872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ctr">
              <a:defRPr sz="819" b="1">
                <a:solidFill>
                  <a:srgbClr val="E11D48"/>
                </a:solidFill>
                <a:latin typeface="Arial"/>
              </a:defRPr>
            </a:pPr>
            <a:r>
              <a:t>03. CARE READINESS</a:t>
            </a:r>
          </a:p>
          <a:p>
            <a:pPr algn="ctr">
              <a:spcBef>
                <a:spcPts val="200"/>
              </a:spcBef>
              <a:defRPr sz="740">
                <a:solidFill>
                  <a:srgbClr val="1E293B"/>
                </a:solidFill>
                <a:latin typeface="Arial"/>
              </a:defRPr>
            </a:pPr>
            <a:r>
              <a:t>6-factor check (Beds,</a:t>
            </a:r>
            <a:br/>
            <a:r>
              <a:t>Doctor, Diagnostics)</a:t>
            </a:r>
            <a:br/>
            <a:r>
              <a:t>at destination facility.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6035040" y="1810512"/>
            <a:ext cx="128016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181344" y="1444752"/>
            <a:ext cx="1691640" cy="1188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ctr">
              <a:defRPr sz="819" b="1">
                <a:solidFill>
                  <a:srgbClr val="0F172A"/>
                </a:solidFill>
                <a:latin typeface="Arial"/>
              </a:defRPr>
            </a:pPr>
            <a:r>
              <a:t>04. DYNAMIC ROUTING</a:t>
            </a:r>
          </a:p>
          <a:p>
            <a:pPr algn="ctr">
              <a:spcBef>
                <a:spcPts val="200"/>
              </a:spcBef>
              <a:defRPr sz="740">
                <a:solidFill>
                  <a:srgbClr val="1E293B"/>
                </a:solidFill>
                <a:latin typeface="Arial"/>
              </a:defRPr>
            </a:pPr>
            <a:r>
              <a:t>Spatial Haversine matrix</a:t>
            </a:r>
            <a:br/>
            <a:r>
              <a:t>picks best hospital;</a:t>
            </a:r>
            <a:br/>
            <a:r>
              <a:t>DLT SMS token sent.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7891272" y="1810512"/>
            <a:ext cx="128016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8037576" y="1444752"/>
            <a:ext cx="1691640" cy="118872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ctr">
              <a:defRPr sz="819" b="1">
                <a:solidFill>
                  <a:srgbClr val="2563EB"/>
                </a:solidFill>
                <a:latin typeface="Arial"/>
              </a:defRPr>
            </a:pPr>
            <a:r>
              <a:t>05. FAST-TRACK OPD</a:t>
            </a:r>
          </a:p>
          <a:p>
            <a:pPr algn="ctr">
              <a:spcBef>
                <a:spcPts val="200"/>
              </a:spcBef>
              <a:defRPr sz="740">
                <a:solidFill>
                  <a:srgbClr val="1E293B"/>
                </a:solidFill>
                <a:latin typeface="Arial"/>
              </a:defRPr>
            </a:pPr>
            <a:r>
              <a:t>Hospital pre-notified;</a:t>
            </a:r>
            <a:br/>
            <a:r>
              <a:t>patient scans QR token;</a:t>
            </a:r>
            <a:br/>
            <a:r>
              <a:t>bypasses 3.5h line.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9747504" y="1810512"/>
            <a:ext cx="128016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9893808" y="1444752"/>
            <a:ext cx="1691640" cy="11887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ctr">
              <a:defRPr sz="819" b="1">
                <a:solidFill>
                  <a:srgbClr val="10B981"/>
                </a:solidFill>
                <a:latin typeface="Arial"/>
              </a:defRPr>
            </a:pPr>
            <a:r>
              <a:t>06. COUNTER-REFERRAL</a:t>
            </a:r>
          </a:p>
          <a:p>
            <a:pPr algn="ctr">
              <a:spcBef>
                <a:spcPts val="200"/>
              </a:spcBef>
              <a:defRPr sz="740">
                <a:solidFill>
                  <a:srgbClr val="1E293B"/>
                </a:solidFill>
                <a:latin typeface="Arial"/>
              </a:defRPr>
            </a:pPr>
            <a:r>
              <a:t>E-discharge auto-creates</a:t>
            </a:r>
            <a:br/>
            <a:r>
              <a:t>home follow-up task on</a:t>
            </a:r>
            <a:br/>
            <a:r>
              <a:t>village ASHA app.</a:t>
            </a:r>
          </a:p>
        </p:txBody>
      </p:sp>
      <p:graphicFrame>
        <p:nvGraphicFramePr>
          <p:cNvPr id="17422" name="Table 17421"/>
          <p:cNvGraphicFramePr>
            <a:graphicFrameLocks noGrp="1"/>
          </p:cNvGraphicFramePr>
          <p:nvPr/>
        </p:nvGraphicFramePr>
        <p:xfrm>
          <a:off x="612648" y="2761488"/>
          <a:ext cx="10972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931920"/>
                <a:gridCol w="5029200"/>
              </a:tblGrid>
              <a:tr h="49638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Architecture Layer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Production Technology Stack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&amp; Operational Rationale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Mobile &amp; Web Client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Vite + React 18 PWA / React Native Android Go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Ultra-lightweight (&lt;15 MB APK), offline-ready, runs smoothly on 2GB RAM phones.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API Gateway &amp; 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NestJS (Node.js 20+) Modular Microservices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High-throughput asynchronous REST/GraphQL gateway, JWT + Argon2 security, DLT SMS.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Persistence &amp; GIS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PostgreSQL + PostGIS (Spatial) + Prisma ORM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ACID transactions, spatial hospital distance queries, drive-time and load balancing.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Offline Storage &amp; Queue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SQLite / WatermelonDB (CRDTs) + Redis BullMQ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Guaranteed local storage during network drops; event-based background synchronization.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AI &amp; Intelligence Layer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Gemini 2.5 Flash + Bhashini Indic STT + Tesseract OCR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Sub-second symptom extraction, vernacular Marathi voice dictation, scanned slip OCR.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Protocols &amp; 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ABDM Gateway (ABHA, HFR, HPR), FHIR R4, DPDP Act 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National Health Authority compliant, encrypted health bundles, verifiable patient consent.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65960" y="0"/>
            <a:ext cx="7680960" cy="0"/>
          </a:xfrm>
        </p:spPr>
        <p:txBody>
          <a:bodyPr/>
          <a:lstStyle/>
          <a:p>
            <a:pPr algn="ctr">
              <a:defRPr sz="1550" b="1">
                <a:solidFill>
                  <a:srgbClr val="0F172A"/>
                </a:solidFill>
                <a:latin typeface="Arial"/>
              </a:defRPr>
            </a:pPr>
            <a:r>
              <a:t>FEASIBILITY, RISK MANAGEMENT &amp; FINANCIAL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01168" y="252246"/>
            <a:ext cx="169164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18288" rIns="18288"/>
          <a:lstStyle/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SwasthyaSetu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12648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Analysis of Idea Feasibility, Potential Challenges &amp; Risks, and Strategic Mitigation Measures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2648" y="1444752"/>
            <a:ext cx="4663440" cy="150876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919" b="1">
                <a:solidFill>
                  <a:srgbClr val="0D9488"/>
                </a:solidFill>
                <a:latin typeface="Arial"/>
              </a:defRPr>
            </a:pPr>
            <a:r>
              <a:t>1. Operational Feasibility (Frontline Ready)</a:t>
            </a:r>
          </a:p>
          <a:p>
            <a:pPr>
              <a:spcBef>
                <a:spcPts val="150"/>
              </a:spcBef>
              <a:defRPr sz="780">
                <a:solidFill>
                  <a:srgbClr val="1E293B"/>
                </a:solidFill>
                <a:latin typeface="Arial"/>
              </a:defRPr>
            </a:pPr>
            <a:r>
              <a:t>• Replaces 8 duplicate paper registers with 50-second Marathi voice dictation.</a:t>
            </a:r>
          </a:p>
          <a:p>
            <a:pPr>
              <a:spcBef>
                <a:spcPts val="150"/>
              </a:spcBef>
              <a:defRPr sz="780">
                <a:solidFill>
                  <a:srgbClr val="1E293B"/>
                </a:solidFill>
                <a:latin typeface="Arial"/>
              </a:defRPr>
            </a:pPr>
            <a:r>
              <a:t>• Operates on existing government smartphones without purchasing specialized tablets.</a:t>
            </a:r>
          </a:p>
          <a:p>
            <a:pPr>
              <a:spcBef>
                <a:spcPts val="150"/>
              </a:spcBef>
              <a:defRPr sz="780">
                <a:solidFill>
                  <a:srgbClr val="1E293B"/>
                </a:solidFill>
                <a:latin typeface="Arial"/>
              </a:defRPr>
            </a:pPr>
            <a:r>
              <a:t>• Designed for low-literacy ASHAs with audio cues, icons, and automated SMS.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2648" y="3063240"/>
            <a:ext cx="4663440" cy="15087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919" b="1">
                <a:solidFill>
                  <a:srgbClr val="2563EB"/>
                </a:solidFill>
                <a:latin typeface="Arial"/>
              </a:defRPr>
            </a:pPr>
            <a:r>
              <a:t>2. Technical Feasibility (Interoperable Rails)</a:t>
            </a:r>
          </a:p>
          <a:p>
            <a:pPr>
              <a:spcBef>
                <a:spcPts val="150"/>
              </a:spcBef>
              <a:defRPr sz="780">
                <a:solidFill>
                  <a:srgbClr val="1E293B"/>
                </a:solidFill>
                <a:latin typeface="Arial"/>
              </a:defRPr>
            </a:pPr>
            <a:r>
              <a:t>• Integrates directly with live national APIs: ABDM (67 Cr ABHA IDs) &amp; Bhashini.</a:t>
            </a:r>
          </a:p>
          <a:p>
            <a:pPr>
              <a:spcBef>
                <a:spcPts val="150"/>
              </a:spcBef>
              <a:defRPr sz="780">
                <a:solidFill>
                  <a:srgbClr val="1E293B"/>
                </a:solidFill>
                <a:latin typeface="Arial"/>
              </a:defRPr>
            </a:pPr>
            <a:r>
              <a:t>• CRDT local replication guarantees zero data corruption during partial syncs.</a:t>
            </a:r>
          </a:p>
          <a:p>
            <a:pPr>
              <a:spcBef>
                <a:spcPts val="150"/>
              </a:spcBef>
              <a:defRPr sz="780">
                <a:solidFill>
                  <a:srgbClr val="1E293B"/>
                </a:solidFill>
                <a:latin typeface="Arial"/>
              </a:defRPr>
            </a:pPr>
            <a:r>
              <a:t>• Runs on proven open-source web and mobile architecture with MeitY cloud compliance.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2648" y="4681728"/>
            <a:ext cx="4663440" cy="1508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919" b="1">
                <a:solidFill>
                  <a:srgbClr val="0F172A"/>
                </a:solidFill>
                <a:latin typeface="Arial"/>
              </a:defRPr>
            </a:pPr>
            <a:r>
              <a:t>3. Financial Viability (B2G Unit Economics)</a:t>
            </a:r>
          </a:p>
          <a:p>
            <a:pPr>
              <a:spcBef>
                <a:spcPts val="150"/>
              </a:spcBef>
              <a:defRPr sz="780">
                <a:solidFill>
                  <a:srgbClr val="1E293B"/>
                </a:solidFill>
                <a:latin typeface="Arial"/>
              </a:defRPr>
            </a:pPr>
            <a:r>
              <a:t>• Funded via State NHM PIP Innovation budget + ABDM DHIS incentives (₹500/bed/mo).</a:t>
            </a:r>
          </a:p>
          <a:p>
            <a:pPr>
              <a:spcBef>
                <a:spcPts val="150"/>
              </a:spcBef>
              <a:defRPr sz="780">
                <a:solidFill>
                  <a:srgbClr val="1E293B"/>
                </a:solidFill>
                <a:latin typeface="Arial"/>
              </a:defRPr>
            </a:pPr>
            <a:r>
              <a:t>• District Operating Cost: ~₹18 Lakh/year vs. State Contract Value: ~₹35 Lakh/year.</a:t>
            </a:r>
          </a:p>
          <a:p>
            <a:pPr>
              <a:spcBef>
                <a:spcPts val="150"/>
              </a:spcBef>
              <a:defRPr sz="780">
                <a:solidFill>
                  <a:srgbClr val="1E293B"/>
                </a:solidFill>
                <a:latin typeface="Arial"/>
              </a:defRPr>
            </a:pPr>
            <a:r>
              <a:t>• 48.5% operating margin supports field engineers and frontline worker training.</a:t>
            </a:r>
          </a:p>
        </p:txBody>
      </p:sp>
      <p:graphicFrame>
        <p:nvGraphicFramePr>
          <p:cNvPr id="17414" name="Table 17413"/>
          <p:cNvGraphicFramePr>
            <a:graphicFrameLocks noGrp="1"/>
          </p:cNvGraphicFramePr>
          <p:nvPr/>
        </p:nvGraphicFramePr>
        <p:xfrm>
          <a:off x="5440680" y="1444752"/>
          <a:ext cx="6144768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011680"/>
                <a:gridCol w="2761488"/>
              </a:tblGrid>
              <a:tr h="3657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 Category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Identified Challenge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Strategic Mitigation Plan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Technical Risk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Cellular blackout &gt;7 days in deep tribal monsoon areas.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Local SQLite retains 5,000 records encrypted; offline QR token + peer-to-peer sync at weekly PHC meet.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E11D48"/>
                          </a:solidFill>
                          <a:latin typeface="Arial"/>
                        </a:defRPr>
                      </a:pPr>
                      <a:r>
                        <a:t>Operational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Hospital specialist ignores incoming referral queue.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Auto-escalation alert to Civil Surgeon dashboard after 4 hours + SMS reminder + physical priority token.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E11D48"/>
                          </a:solidFill>
                          <a:latin typeface="Arial"/>
                        </a:defRPr>
                      </a:pPr>
                      <a:r>
                        <a:t>Clinical Risk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Triage rule misclassifies acute case as low risk.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Deterministic ICMR/WHO CDSS thresholds; mandatory human-in-the-loop doctor authorization; no autonomous diagnosis.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Adoption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Low smartphone literacy among senior village ASHAs.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Marathi voice dictation + visual iconographic UI + ₹50 performance incentive per verified referral follow-up.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65960" y="0"/>
            <a:ext cx="7680960" cy="0"/>
          </a:xfrm>
        </p:spPr>
        <p:txBody>
          <a:bodyPr/>
          <a:lstStyle/>
          <a:p>
            <a:pPr algn="ctr">
              <a:defRPr sz="1550" b="1">
                <a:solidFill>
                  <a:srgbClr val="0F172A"/>
                </a:solidFill>
                <a:latin typeface="Arial"/>
              </a:defRPr>
            </a:pPr>
            <a:r>
              <a:t>MEASURABLE IMPACT, HEALTHCARE OUTCOMES &amp; MULTI-TIER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01168" y="252246"/>
            <a:ext cx="169164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18288" rIns="18288"/>
          <a:lstStyle/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SwasthyaSetu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12648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Potential Impact on Target Audience &amp; Comprehensive Benefits (Social, Economic, Environmental, Administrative)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2648" y="1444752"/>
            <a:ext cx="2606040" cy="128016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800" b="1">
                <a:solidFill>
                  <a:srgbClr val="0D9488"/>
                </a:solidFill>
                <a:latin typeface="Arial"/>
              </a:defRPr>
            </a:pPr>
            <a:r>
              <a:t>&lt; 10%</a:t>
            </a:r>
          </a:p>
          <a:p>
            <a:pPr>
              <a:defRPr sz="919" b="1">
                <a:solidFill>
                  <a:srgbClr val="0F172A"/>
                </a:solidFill>
                <a:latin typeface="Arial"/>
              </a:defRPr>
            </a:pPr>
            <a:r>
              <a:t>Referral Drop-out</a:t>
            </a:r>
          </a:p>
          <a:p>
            <a:pPr>
              <a:spcBef>
                <a:spcPts val="200"/>
              </a:spcBef>
              <a:defRPr sz="750">
                <a:solidFill>
                  <a:srgbClr val="1E293B"/>
                </a:solidFill>
                <a:latin typeface="Arial"/>
              </a:defRPr>
            </a:pPr>
            <a:r>
              <a:t>Slashed from 48.2% baseline via closed-loop tracking &amp; active navigation.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401568" y="1444752"/>
            <a:ext cx="2606040" cy="12801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800" b="1">
                <a:solidFill>
                  <a:srgbClr val="2563EB"/>
                </a:solidFill>
                <a:latin typeface="Arial"/>
              </a:defRPr>
            </a:pPr>
            <a:r>
              <a:t>60%+</a:t>
            </a:r>
          </a:p>
          <a:p>
            <a:pPr>
              <a:defRPr sz="919" b="1">
                <a:solidFill>
                  <a:srgbClr val="0F172A"/>
                </a:solidFill>
                <a:latin typeface="Arial"/>
              </a:defRPr>
            </a:pPr>
            <a:r>
              <a:t>OOPE Travel Reduction</a:t>
            </a:r>
          </a:p>
          <a:p>
            <a:pPr>
              <a:spcBef>
                <a:spcPts val="200"/>
              </a:spcBef>
              <a:defRPr sz="750">
                <a:solidFill>
                  <a:srgbClr val="1E293B"/>
                </a:solidFill>
                <a:latin typeface="Arial"/>
              </a:defRPr>
            </a:pPr>
            <a:r>
              <a:t>Saves rural families from debt traps via Coordinated One-Trip Care Bundles.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90488" y="1444752"/>
            <a:ext cx="2606040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800" b="1">
                <a:solidFill>
                  <a:srgbClr val="0F172A"/>
                </a:solidFill>
                <a:latin typeface="Arial"/>
              </a:defRPr>
            </a:pPr>
            <a:r>
              <a:t>&lt; 45 Min</a:t>
            </a:r>
          </a:p>
          <a:p>
            <a:pPr>
              <a:defRPr sz="919" b="1">
                <a:solidFill>
                  <a:srgbClr val="0F172A"/>
                </a:solidFill>
                <a:latin typeface="Arial"/>
              </a:defRPr>
            </a:pPr>
            <a:r>
              <a:t>Hospital Wait Time</a:t>
            </a:r>
          </a:p>
          <a:p>
            <a:pPr>
              <a:spcBef>
                <a:spcPts val="200"/>
              </a:spcBef>
              <a:defRPr sz="750">
                <a:solidFill>
                  <a:srgbClr val="1E293B"/>
                </a:solidFill>
                <a:latin typeface="Arial"/>
              </a:defRPr>
            </a:pPr>
            <a:r>
              <a:t>Fast-track casualty triage bypasses 3.5-hour general OPD queues.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8979408" y="1444752"/>
            <a:ext cx="2606040" cy="12801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800" b="1">
                <a:solidFill>
                  <a:srgbClr val="10B981"/>
                </a:solidFill>
                <a:latin typeface="Arial"/>
              </a:defRPr>
            </a:pPr>
            <a:r>
              <a:t>100%</a:t>
            </a:r>
          </a:p>
          <a:p>
            <a:pPr>
              <a:defRPr sz="919" b="1">
                <a:solidFill>
                  <a:srgbClr val="0F172A"/>
                </a:solidFill>
                <a:latin typeface="Arial"/>
              </a:defRPr>
            </a:pPr>
            <a:r>
              <a:t>Follow-up Compliance</a:t>
            </a:r>
          </a:p>
          <a:p>
            <a:pPr>
              <a:spcBef>
                <a:spcPts val="200"/>
              </a:spcBef>
              <a:defRPr sz="750">
                <a:solidFill>
                  <a:srgbClr val="1E293B"/>
                </a:solidFill>
                <a:latin typeface="Arial"/>
              </a:defRPr>
            </a:pPr>
            <a:r>
              <a:t>Automated counter-referral tasks sent to village ASHAs on patient discharge.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12648" y="2852928"/>
            <a:ext cx="5349240" cy="164592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919" b="1">
                <a:solidFill>
                  <a:srgbClr val="E11D48"/>
                </a:solidFill>
                <a:latin typeface="Arial"/>
              </a:defRPr>
            </a:pPr>
            <a:r>
              <a:t>SOCIAL IMPACT: Maternal &amp; Cardiac Lives Saved</a:t>
            </a:r>
          </a:p>
          <a:p>
            <a:pPr>
              <a:spcBef>
                <a:spcPts val="150"/>
              </a:spcBef>
              <a:defRPr sz="780">
                <a:solidFill>
                  <a:srgbClr val="1E293B"/>
                </a:solidFill>
                <a:latin typeface="Arial"/>
              </a:defRPr>
            </a:pPr>
            <a:r>
              <a:t>• Prevents maternal mortality (PPH, eclampsia) &amp; cardiac deaths in tribal blocks (Melghat, Nandurbar).</a:t>
            </a:r>
          </a:p>
          <a:p>
            <a:pPr>
              <a:spcBef>
                <a:spcPts val="150"/>
              </a:spcBef>
              <a:defRPr sz="780">
                <a:solidFill>
                  <a:srgbClr val="1E293B"/>
                </a:solidFill>
                <a:latin typeface="Arial"/>
              </a:defRPr>
            </a:pPr>
            <a:r>
              <a:t>• Eliminates fear and confusion for illiterate citizens through vernacular voice guidance.</a:t>
            </a:r>
          </a:p>
          <a:p>
            <a:pPr>
              <a:spcBef>
                <a:spcPts val="150"/>
              </a:spcBef>
              <a:defRPr sz="780">
                <a:solidFill>
                  <a:srgbClr val="1E293B"/>
                </a:solidFill>
                <a:latin typeface="Arial"/>
              </a:defRPr>
            </a:pPr>
            <a:r>
              <a:t>• Empowers frontline women (ASHAs) as digital healthcare leaders in their community.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236208" y="2852928"/>
            <a:ext cx="5349240" cy="164592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919" b="1">
                <a:solidFill>
                  <a:srgbClr val="2563EB"/>
                </a:solidFill>
                <a:latin typeface="Arial"/>
              </a:defRPr>
            </a:pPr>
            <a:r>
              <a:t>ECONOMIC IMPACT: Eliminating Healthcare Debt</a:t>
            </a:r>
          </a:p>
          <a:p>
            <a:pPr>
              <a:spcBef>
                <a:spcPts val="150"/>
              </a:spcBef>
              <a:defRPr sz="780">
                <a:solidFill>
                  <a:srgbClr val="1E293B"/>
                </a:solidFill>
                <a:latin typeface="Arial"/>
              </a:defRPr>
            </a:pPr>
            <a:r>
              <a:t>• Health expenses push 55 million Indians into poverty annually; platform cuts private jeep &amp; repeat test costs.</a:t>
            </a:r>
          </a:p>
          <a:p>
            <a:pPr>
              <a:spcBef>
                <a:spcPts val="150"/>
              </a:spcBef>
              <a:defRPr sz="780">
                <a:solidFill>
                  <a:srgbClr val="1E293B"/>
                </a:solidFill>
                <a:latin typeface="Arial"/>
              </a:defRPr>
            </a:pPr>
            <a:r>
              <a:t>• Reduces tertiary hospital over-utilization by triaging treatable cases at primary PHC/CHC level.</a:t>
            </a:r>
          </a:p>
          <a:p>
            <a:pPr>
              <a:spcBef>
                <a:spcPts val="150"/>
              </a:spcBef>
              <a:defRPr sz="780">
                <a:solidFill>
                  <a:srgbClr val="1E293B"/>
                </a:solidFill>
                <a:latin typeface="Arial"/>
              </a:defRPr>
            </a:pPr>
            <a:r>
              <a:t>• Unlocks ABDM DHIS federal cash incentives (₹500/bed/mo) for participating state hospitals.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12648" y="4608576"/>
            <a:ext cx="5349240" cy="16459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919" b="1">
                <a:solidFill>
                  <a:srgbClr val="10B981"/>
                </a:solidFill>
                <a:latin typeface="Arial"/>
              </a:defRPr>
            </a:pPr>
            <a:r>
              <a:t>ENVIRONMENTAL IMPACT: Paperless Green Health</a:t>
            </a:r>
          </a:p>
          <a:p>
            <a:pPr>
              <a:spcBef>
                <a:spcPts val="150"/>
              </a:spcBef>
              <a:defRPr sz="780">
                <a:solidFill>
                  <a:srgbClr val="1E293B"/>
                </a:solidFill>
                <a:latin typeface="Arial"/>
              </a:defRPr>
            </a:pPr>
            <a:r>
              <a:t>• Replaces millions of physical registers and paper referral slips with digital records.</a:t>
            </a:r>
          </a:p>
          <a:p>
            <a:pPr>
              <a:spcBef>
                <a:spcPts val="150"/>
              </a:spcBef>
              <a:defRPr sz="780">
                <a:solidFill>
                  <a:srgbClr val="1E293B"/>
                </a:solidFill>
                <a:latin typeface="Arial"/>
              </a:defRPr>
            </a:pPr>
            <a:r>
              <a:t>• Significantly cuts vehicular emissions and fuel consumption from repeated, failed hospital trips.</a:t>
            </a:r>
          </a:p>
          <a:p>
            <a:pPr>
              <a:spcBef>
                <a:spcPts val="150"/>
              </a:spcBef>
              <a:defRPr sz="780">
                <a:solidFill>
                  <a:srgbClr val="1E293B"/>
                </a:solidFill>
                <a:latin typeface="Arial"/>
              </a:defRPr>
            </a:pPr>
            <a:r>
              <a:t>• Eco-friendly server architecture optimized for low-power edge execution.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236208" y="4608576"/>
            <a:ext cx="5349240" cy="1645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919" b="1">
                <a:solidFill>
                  <a:srgbClr val="0F172A"/>
                </a:solidFill>
                <a:latin typeface="Arial"/>
              </a:defRPr>
            </a:pPr>
            <a:r>
              <a:t>ADMINISTRATIVE IMPACT: Real-Time Governance</a:t>
            </a:r>
          </a:p>
          <a:p>
            <a:pPr>
              <a:spcBef>
                <a:spcPts val="150"/>
              </a:spcBef>
              <a:defRPr sz="780">
                <a:solidFill>
                  <a:srgbClr val="1E293B"/>
                </a:solidFill>
                <a:latin typeface="Arial"/>
              </a:defRPr>
            </a:pPr>
            <a:r>
              <a:t>• Live District Health Officer (DHO) bottleneck heatmaps surface specialist shortages &amp; equipment outages.</a:t>
            </a:r>
          </a:p>
          <a:p>
            <a:pPr>
              <a:spcBef>
                <a:spcPts val="150"/>
              </a:spcBef>
              <a:defRPr sz="780">
                <a:solidFill>
                  <a:srgbClr val="1E293B"/>
                </a:solidFill>
                <a:latin typeface="Arial"/>
              </a:defRPr>
            </a:pPr>
            <a:r>
              <a:t>• Replaces delayed 45-day HMIS aggregate reports with actionable operational telemetry.</a:t>
            </a:r>
          </a:p>
          <a:p>
            <a:pPr>
              <a:spcBef>
                <a:spcPts val="150"/>
              </a:spcBef>
              <a:defRPr sz="780">
                <a:solidFill>
                  <a:srgbClr val="1E293B"/>
                </a:solidFill>
                <a:latin typeface="Arial"/>
              </a:defRPr>
            </a:pPr>
            <a:r>
              <a:t>• Provides accountability across secondary facilities for referral turnaround and bed readiness.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65960" y="0"/>
            <a:ext cx="7680960" cy="0"/>
          </a:xfrm>
        </p:spPr>
        <p:txBody>
          <a:bodyPr/>
          <a:lstStyle/>
          <a:p>
            <a:pPr algn="ctr">
              <a:defRPr sz="1550" b="1">
                <a:solidFill>
                  <a:srgbClr val="0F172A"/>
                </a:solidFill>
                <a:latin typeface="Arial"/>
              </a:defRPr>
            </a:pPr>
            <a:r>
              <a:t>RESEARCH, REFERENCES &amp; COMPETITIVE BENCHMARKING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01168" y="252246"/>
            <a:ext cx="169164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18288" rIns="18288"/>
          <a:lstStyle/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SwasthyaSetu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12648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Details &amp; Links of Reference Research Work, Competitive Benchmarking Matrix, and Epidemiological Evidence</a:t>
            </a:r>
          </a:p>
        </p:txBody>
      </p:sp>
      <p:graphicFrame>
        <p:nvGraphicFramePr>
          <p:cNvPr id="17411" name="Table 17410"/>
          <p:cNvGraphicFramePr>
            <a:graphicFrameLocks noGrp="1"/>
          </p:cNvGraphicFramePr>
          <p:nvPr/>
        </p:nvGraphicFramePr>
        <p:xfrm>
          <a:off x="612648" y="1444752"/>
          <a:ext cx="1097280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737360"/>
                <a:gridCol w="1737360"/>
                <a:gridCol w="1737360"/>
                <a:gridCol w="1737360"/>
                <a:gridCol w="1737360"/>
              </a:tblGrid>
              <a:tr h="3200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Capability Dimension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eSanjeevani (C-DAC)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NIC e-Hospital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Khushi Baby / CHT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108 EMS Fleet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SwasthyaSetu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Closed-Loop Physical Referral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11D48"/>
                          </a:solidFill>
                          <a:latin typeface="Arial"/>
                        </a:defRPr>
                      </a:pPr>
                      <a:r>
                        <a:t>✕ None (Tele-advice only)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11D48"/>
                          </a:solidFill>
                          <a:latin typeface="Arial"/>
                        </a:defRPr>
                      </a:pPr>
                      <a:r>
                        <a:t>✕ None (Internal OPD only)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⚠ Partial (MCH only)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11D48"/>
                          </a:solidFill>
                          <a:latin typeface="Arial"/>
                        </a:defRPr>
                      </a:pPr>
                      <a:r>
                        <a:t>✕ Transport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0D9488"/>
                          </a:solidFill>
                          <a:latin typeface="Arial"/>
                        </a:defRPr>
                      </a:pPr>
                      <a:r>
                        <a:t>✓ Full Closed-Loop Tracking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Offline-First Mobile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11D48"/>
                          </a:solidFill>
                          <a:latin typeface="Arial"/>
                        </a:defRPr>
                      </a:pPr>
                      <a:r>
                        <a:t>✕ Fails without 4G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11D48"/>
                          </a:solidFill>
                          <a:latin typeface="Arial"/>
                        </a:defRPr>
                      </a:pPr>
                      <a:r>
                        <a:t>✕ Desktop Intranet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✓ Offline Sync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⚠ Voice Call based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0D9488"/>
                          </a:solidFill>
                          <a:latin typeface="Arial"/>
                        </a:defRPr>
                      </a:pPr>
                      <a:r>
                        <a:t>✓ Offline SQLite + CRDT Sync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Vernacular Voice Triage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11D48"/>
                          </a:solidFill>
                          <a:latin typeface="Arial"/>
                        </a:defRPr>
                      </a:pPr>
                      <a:r>
                        <a:t>✕ 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11D48"/>
                          </a:solidFill>
                          <a:latin typeface="Arial"/>
                        </a:defRPr>
                      </a:pPr>
                      <a:r>
                        <a:t>✕ 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11D48"/>
                          </a:solidFill>
                          <a:latin typeface="Arial"/>
                        </a:defRPr>
                      </a:pPr>
                      <a:r>
                        <a:t>✕ 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11D48"/>
                          </a:solidFill>
                          <a:latin typeface="Arial"/>
                        </a:defRPr>
                      </a:pPr>
                      <a:r>
                        <a:t>✕ 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0D9488"/>
                          </a:solidFill>
                          <a:latin typeface="Arial"/>
                        </a:defRPr>
                      </a:pPr>
                      <a:r>
                        <a:t>✓ Bhashini Marathi/Hindi STT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Pre-Arrival Casualty Alert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11D48"/>
                          </a:solidFill>
                          <a:latin typeface="Arial"/>
                        </a:defRPr>
                      </a:pPr>
                      <a:r>
                        <a:t>✕ 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11D48"/>
                          </a:solidFill>
                          <a:latin typeface="Arial"/>
                        </a:defRPr>
                      </a:pPr>
                      <a:r>
                        <a:t>✕ 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11D48"/>
                          </a:solidFill>
                          <a:latin typeface="Arial"/>
                        </a:defRPr>
                      </a:pPr>
                      <a:r>
                        <a:t>✕ 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⚠ Manual Phone 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0D9488"/>
                          </a:solidFill>
                          <a:latin typeface="Arial"/>
                        </a:defRPr>
                      </a:pPr>
                      <a:r>
                        <a:t>✓ Real-Time Triage Card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Automated ASHA Counter-Referral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11D48"/>
                          </a:solidFill>
                          <a:latin typeface="Arial"/>
                        </a:defRPr>
                      </a:pPr>
                      <a:r>
                        <a:t>✕ 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11D48"/>
                          </a:solidFill>
                          <a:latin typeface="Arial"/>
                        </a:defRPr>
                      </a:pPr>
                      <a:r>
                        <a:t>✕ 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11D48"/>
                          </a:solidFill>
                          <a:latin typeface="Arial"/>
                        </a:defRPr>
                      </a:pPr>
                      <a:r>
                        <a:t>✕ 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11D48"/>
                          </a:solidFill>
                          <a:latin typeface="Arial"/>
                        </a:defRPr>
                      </a:pPr>
                      <a:r>
                        <a:t>✕ 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0D9488"/>
                          </a:solidFill>
                          <a:latin typeface="Arial"/>
                        </a:defRPr>
                      </a:pPr>
                      <a:r>
                        <a:t>✓ Discharge to ASHA Task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  <p:sp>
        <p:nvSpPr>
          <p:cNvPr id="17412" name="Rounded Rectangle 17411"/>
          <p:cNvSpPr/>
          <p:nvPr/>
        </p:nvSpPr>
        <p:spPr>
          <a:xfrm>
            <a:off x="612648" y="3931920"/>
            <a:ext cx="2606040" cy="21945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880" b="1">
                <a:solidFill>
                  <a:srgbClr val="2563EB"/>
                </a:solidFill>
                <a:latin typeface="Arial"/>
              </a:defRPr>
            </a:pPr>
            <a:r>
              <a:t>1. MoHFW Rural Health Statistics</a:t>
            </a:r>
          </a:p>
          <a:p>
            <a:pPr>
              <a:spcBef>
                <a:spcPts val="250"/>
              </a:spcBef>
            </a:pPr>
            <a:r>
              <a:rPr sz="750" b="1">
                <a:solidFill>
                  <a:srgbClr val="0F172A"/>
                </a:solidFill>
                <a:latin typeface="Arial"/>
              </a:rPr>
              <a:t>Source:</a:t>
            </a:r>
            <a:r>
              <a:rPr sz="720">
                <a:solidFill>
                  <a:srgbClr val="1E293B"/>
                </a:solidFill>
                <a:latin typeface="Arial"/>
              </a:rPr>
              <a:t> Health Dynamics of India 2022-23</a:t>
            </a:r>
          </a:p>
          <a:p>
            <a:pPr>
              <a:spcBef>
                <a:spcPts val="250"/>
              </a:spcBef>
            </a:pPr>
            <a:r>
              <a:rPr sz="750" b="1">
                <a:solidFill>
                  <a:srgbClr val="0F172A"/>
                </a:solidFill>
                <a:latin typeface="Arial"/>
              </a:rPr>
              <a:t>Finding:</a:t>
            </a:r>
            <a:r>
              <a:rPr sz="720">
                <a:solidFill>
                  <a:srgbClr val="1E293B"/>
                </a:solidFill>
                <a:latin typeface="Arial"/>
              </a:rPr>
              <a:t> Acute 79.9% shortfall of specialists at rural CHCs nationwide.</a:t>
            </a:r>
          </a:p>
          <a:p>
            <a:pPr>
              <a:spcBef>
                <a:spcPts val="250"/>
              </a:spcBef>
            </a:pPr>
            <a:r>
              <a:rPr sz="750" b="1">
                <a:solidFill>
                  <a:srgbClr val="0F172A"/>
                </a:solidFill>
                <a:latin typeface="Arial"/>
              </a:rPr>
              <a:t>Relevance:</a:t>
            </a:r>
            <a:r>
              <a:rPr sz="720">
                <a:solidFill>
                  <a:srgbClr val="1E293B"/>
                </a:solidFill>
                <a:latin typeface="Arial"/>
              </a:rPr>
              <a:t> Validates why capacity-aware routing is the only viable allocation mechanism.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401568" y="3931920"/>
            <a:ext cx="2606040" cy="219456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880" b="1">
                <a:solidFill>
                  <a:srgbClr val="E11D48"/>
                </a:solidFill>
                <a:latin typeface="Arial"/>
              </a:defRPr>
            </a:pPr>
            <a:r>
              <a:t>2. The Lancet Global Health</a:t>
            </a:r>
          </a:p>
          <a:p>
            <a:pPr>
              <a:spcBef>
                <a:spcPts val="250"/>
              </a:spcBef>
            </a:pPr>
            <a:r>
              <a:rPr sz="750" b="1">
                <a:solidFill>
                  <a:srgbClr val="0F172A"/>
                </a:solidFill>
                <a:latin typeface="Arial"/>
              </a:rPr>
              <a:t>Source:</a:t>
            </a:r>
            <a:r>
              <a:rPr sz="720">
                <a:solidFill>
                  <a:srgbClr val="1E293B"/>
                </a:solidFill>
                <a:latin typeface="Arial"/>
              </a:rPr>
              <a:t> Referral Pathways in Rural India (2020)</a:t>
            </a:r>
          </a:p>
          <a:p>
            <a:pPr>
              <a:spcBef>
                <a:spcPts val="250"/>
              </a:spcBef>
            </a:pPr>
            <a:r>
              <a:rPr sz="750" b="1">
                <a:solidFill>
                  <a:srgbClr val="0F172A"/>
                </a:solidFill>
                <a:latin typeface="Arial"/>
              </a:rPr>
              <a:t>Finding:</a:t>
            </a:r>
            <a:r>
              <a:rPr sz="720">
                <a:solidFill>
                  <a:srgbClr val="1E293B"/>
                </a:solidFill>
                <a:latin typeface="Arial"/>
              </a:rPr>
              <a:t> 48.2% of referred primary patients never reach secondary hospitals.</a:t>
            </a:r>
          </a:p>
          <a:p>
            <a:pPr>
              <a:spcBef>
                <a:spcPts val="250"/>
              </a:spcBef>
            </a:pPr>
            <a:r>
              <a:rPr sz="750" b="1">
                <a:solidFill>
                  <a:srgbClr val="0F172A"/>
                </a:solidFill>
                <a:latin typeface="Arial"/>
              </a:rPr>
              <a:t>Relevance:</a:t>
            </a:r>
            <a:r>
              <a:rPr sz="720">
                <a:solidFill>
                  <a:srgbClr val="1E293B"/>
                </a:solidFill>
                <a:latin typeface="Arial"/>
              </a:rPr>
              <a:t> Provides empirical baseline for SwasthyaSetu closed-loop tracking.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190488" y="3931920"/>
            <a:ext cx="2606040" cy="2194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880" b="1">
                <a:solidFill>
                  <a:srgbClr val="0F172A"/>
                </a:solidFill>
                <a:latin typeface="Arial"/>
              </a:defRPr>
            </a:pPr>
            <a:r>
              <a:t>3. National Health Accounts</a:t>
            </a:r>
          </a:p>
          <a:p>
            <a:pPr>
              <a:spcBef>
                <a:spcPts val="250"/>
              </a:spcBef>
            </a:pPr>
            <a:r>
              <a:rPr sz="750" b="1">
                <a:solidFill>
                  <a:srgbClr val="0F172A"/>
                </a:solidFill>
                <a:latin typeface="Arial"/>
              </a:rPr>
              <a:t>Source:</a:t>
            </a:r>
            <a:r>
              <a:rPr sz="720">
                <a:solidFill>
                  <a:srgbClr val="1E293B"/>
                </a:solidFill>
                <a:latin typeface="Arial"/>
              </a:rPr>
              <a:t> NHA 2020-21 / Lancet Public Health</a:t>
            </a:r>
          </a:p>
          <a:p>
            <a:pPr>
              <a:spcBef>
                <a:spcPts val="250"/>
              </a:spcBef>
            </a:pPr>
            <a:r>
              <a:rPr sz="750" b="1">
                <a:solidFill>
                  <a:srgbClr val="0F172A"/>
                </a:solidFill>
                <a:latin typeface="Arial"/>
              </a:rPr>
              <a:t>Finding:</a:t>
            </a:r>
            <a:r>
              <a:rPr sz="720">
                <a:solidFill>
                  <a:srgbClr val="1E293B"/>
                </a:solidFill>
                <a:latin typeface="Arial"/>
              </a:rPr>
              <a:t> OOPE accounts for 47.1% of health spend; pushes 55M into poverty.</a:t>
            </a:r>
          </a:p>
          <a:p>
            <a:pPr>
              <a:spcBef>
                <a:spcPts val="250"/>
              </a:spcBef>
            </a:pPr>
            <a:r>
              <a:rPr sz="750" b="1">
                <a:solidFill>
                  <a:srgbClr val="0F172A"/>
                </a:solidFill>
                <a:latin typeface="Arial"/>
              </a:rPr>
              <a:t>Relevance:</a:t>
            </a:r>
            <a:r>
              <a:rPr sz="720">
                <a:solidFill>
                  <a:srgbClr val="1E293B"/>
                </a:solidFill>
                <a:latin typeface="Arial"/>
              </a:rPr>
              <a:t> Proves need for Coordinated One-Trip care to slash private transport costs.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8979408" y="3931920"/>
            <a:ext cx="2606040" cy="219456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880" b="1">
                <a:solidFill>
                  <a:srgbClr val="0D9488"/>
                </a:solidFill>
                <a:latin typeface="Arial"/>
              </a:defRPr>
            </a:pPr>
            <a:r>
              <a:t>4. JMIR 2025 &amp; ABDM Specs</a:t>
            </a:r>
          </a:p>
          <a:p>
            <a:pPr>
              <a:spcBef>
                <a:spcPts val="250"/>
              </a:spcBef>
            </a:pPr>
            <a:r>
              <a:rPr sz="750" b="1">
                <a:solidFill>
                  <a:srgbClr val="0F172A"/>
                </a:solidFill>
                <a:latin typeface="Arial"/>
              </a:rPr>
              <a:t>Source:</a:t>
            </a:r>
            <a:r>
              <a:rPr sz="720">
                <a:solidFill>
                  <a:srgbClr val="1E293B"/>
                </a:solidFill>
                <a:latin typeface="Arial"/>
              </a:rPr>
              <a:t> Li et al., JMIR 2025; ABDM FHIR R4</a:t>
            </a:r>
          </a:p>
          <a:p>
            <a:pPr>
              <a:spcBef>
                <a:spcPts val="250"/>
              </a:spcBef>
            </a:pPr>
            <a:r>
              <a:rPr sz="750" b="1">
                <a:solidFill>
                  <a:srgbClr val="0F172A"/>
                </a:solidFill>
                <a:latin typeface="Arial"/>
              </a:rPr>
              <a:t>Finding:</a:t>
            </a:r>
            <a:r>
              <a:rPr sz="720">
                <a:solidFill>
                  <a:srgbClr val="1E293B"/>
                </a:solidFill>
                <a:latin typeface="Arial"/>
              </a:rPr>
              <a:t> Bidirectional referral cuts transfer delay from 2.51 to 0.90 days.</a:t>
            </a:r>
          </a:p>
          <a:p>
            <a:pPr>
              <a:spcBef>
                <a:spcPts val="250"/>
              </a:spcBef>
            </a:pPr>
            <a:r>
              <a:rPr sz="750" b="1">
                <a:solidFill>
                  <a:srgbClr val="0F172A"/>
                </a:solidFill>
                <a:latin typeface="Arial"/>
              </a:rPr>
              <a:t>Relevance:</a:t>
            </a:r>
            <a:r>
              <a:rPr sz="720">
                <a:solidFill>
                  <a:srgbClr val="1E293B"/>
                </a:solidFill>
                <a:latin typeface="Arial"/>
              </a:rPr>
              <a:t> Core blueprint for SwasthyaSetu 3-way visibility &amp; ABHA integration.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